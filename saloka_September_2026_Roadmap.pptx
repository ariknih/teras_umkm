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C31"/>
    <a:srgbClr val="EFF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57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3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SALOKA· UPDATE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September 2026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Mingguan (25–31 Agustus 2026)  &amp;  Linimasa Pengembangan Bulanan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1 September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55280" y="4160520"/>
            <a:ext cx="777240" cy="77724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box_whit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41818" y="43470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26680" y="5010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Snackbox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915400" y="4160520"/>
            <a:ext cx="777240" cy="77724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10" name="Image 1" descr="/private/tmp/claude-501/-Users-dzakidarthmatheus-Github-teras-umkm/8ffcaaf8-814c-4eac-a9c4-84fff754176e/scratchpad/roadmap_deck/icons/fa_users_whit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01938" y="434705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0" y="5010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875520" y="4160520"/>
            <a:ext cx="777240" cy="77724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13" name="Image 2" descr="/private/tmp/claude-501/-Users-dzakidarthmatheus-Github-teras-umkm/8ffcaaf8-814c-4eac-a9c4-84fff754176e/scratchpad/roadmap_deck/icons/fa_credit_card_whit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62058" y="434705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46920" y="5010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0835640" y="4160520"/>
            <a:ext cx="777240" cy="77724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16" name="Image 3" descr="/private/tmp/claude-501/-Users-dzakidarthmatheus-Github-teras-umkm/8ffcaaf8-814c-4eac-a9c4-84fff754176e/scratchpad/roadmap_deck/icons/fa_grad_cap_white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022178" y="4347058"/>
            <a:ext cx="404165" cy="40416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607040" y="5010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REKAP MINGGUAN (25–31 AGUSTUS)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Komunitas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914400" cy="91440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5" name="Image 0" descr="/private/tmp/claude-501/-Users-dzakidarthmatheus-Github-teras-umkm/8ffcaaf8-814c-4eac-a9c4-84fff754176e/scratchpad/roadmap_deck/icons/fa_users_whit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86416" y="7223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0881360" cy="4572000"/>
          </a:xfrm>
          <a:prstGeom prst="roundRect">
            <a:avLst>
              <a:gd name="adj" fmla="val 2000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5840" y="1965960"/>
            <a:ext cx="9966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CRUD lengkap (tambah, ubah, hapus, detail) di seluruh 11 modul komunitas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toggle pemisahan produk resmi vs. produk anggota di editor landing page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forum diskusi dinamis: visibilitas lintas pengguna, suka, komentar, dan notifikasi dalam aplikasi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Menghadirkan dashboard yang responsif penuh di mobile — tab horizontal, carousel, dan feed satu kolom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Mendesain ulang widget "Komunitas &amp; Role Saya"; memperbaiki gestur carousel di mobile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Performa: caching SWR di client, cacheWrap di server, pengambilan data paralel, dan skeleton loading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REKAP MINGGUAN (25–31 AGUSTUS)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/private/tmp/claude-501/-Users-dzakidarthmatheus-Github-teras-umkm/8ffcaaf8-814c-4eac-a9c4-84fff754176e/scratchpad/roadmap_deck/icons/fa_box_white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86416" y="7223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0881360" cy="4572000"/>
          </a:xfrm>
          <a:prstGeom prst="roundRect">
            <a:avLst>
              <a:gd name="adj" fmla="val 2000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5840" y="1965960"/>
            <a:ext cx="9966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alur pencarian produk berdasarkan kelurahan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drawer keranjang box dan alur checkout lengkap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pencarian kategori merchant dengan slider bagi hasil 15–20%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alur keranjang antara Snackbox dan marketplace utama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Menyelaraskan design system, tipografi, dan tata letak kartu dengan marketplace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REKAP MINGGUAN (25–31 AGUSTUS)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Infrastruktur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914400" cy="91440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5" name="Image 0" descr="/private/tmp/claude-501/-Users-dzakidarthmatheus-Github-teras-umkm/8ffcaaf8-814c-4eac-a9c4-84fff754176e/scratchpad/roadmap_deck/icons/fa_server_whit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86416" y="7223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0881360" cy="4572000"/>
          </a:xfrm>
          <a:prstGeom prst="roundRect">
            <a:avLst>
              <a:gd name="adj" fmla="val 2000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5840" y="1965960"/>
            <a:ext cx="9966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lapisan cache Redis, format gambar WebP, dan skeleton pagination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 geolokasi IP saat login dan ikon autentikasi Google yang rusak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pencarian instan di navbar dengan autocomplete + fallback rekomendasi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Merefaktor data store: memisahkan seed data, menambahkan wrapper fallback/mutation-fallback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aturan lean-engineering (mode "Ponytail") dan melakukan pembersihan codebase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ROADMAP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Target Bulan Ini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66928" cy="566928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5" name="Image 0" descr="/private/tmp/claude-501/-Users-dzakidarthmatheus-Github-teras-umkm/8ffcaaf8-814c-4eac-a9c4-84fff754176e/scratchpad/roadmap_deck/icons/fa_box_whit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4703" y="1754551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08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 Snackbox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8928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kekurangan yang tersisa dan merilis versi v1 yang stabil.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18488"/>
            <a:ext cx="566928" cy="566928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9" name="Image 1" descr="/private/tmp/claude-501/-Users-dzakidarthmatheus-Github-teras-umkm/8ffcaaf8-814c-4eac-a9c4-84fff754176e/scratchpad/roadmap_deck/icons/fa_users_whit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8263" y="175455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1508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 Sistem Komunitas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8928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Membekukan fitur di seluruh 11 modul untuk peluncuran.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3" name="Image 2" descr="/private/tmp/claude-501/-Users-dzakidarthmatheus-Github-teras-umkm/8ffcaaf8-814c-4eac-a9c4-84fff754176e/scratchpad/roadmap_deck/icons/fa_credit_card_white.png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4703" y="29249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6791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Pembayaran &amp; Pengiriman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0632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payment gateway dan pelacakan kurir secara menyeluruh.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72200" y="2788920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7" name="Image 3" descr="/private/tmp/claude-501/-Users-dzakidarthmatheus-Github-teras-umkm/8ffcaaf8-814c-4eac-a9c4-84fff754176e/scratchpad/roadmap_deck/icons/fa_grad_cap_white.png"/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8263" y="292498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26791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LMS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6949440" y="30632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navigasi, pelacakan progres, dan alat admin.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959352"/>
            <a:ext cx="566928" cy="566928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21" name="Image 4" descr="/private/tmp/claude-501/-Users-dzakidarthmatheus-Github-teras-umkm/8ffcaaf8-814c-4eac-a9c4-84fff754176e/scratchpad/roadmap_deck/icons/fa_invoice_white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4703" y="4095415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8496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Pajak Indonesia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42336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Menyesuaikan invoicing dan pelaporan dengan aturan PPN / e-Faktur.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172200" y="3959352"/>
            <a:ext cx="566928" cy="566928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25" name="Image 5" descr="/private/tmp/claude-501/-Users-dzakidarthmatheus-Github-teras-umkm/8ffcaaf8-814c-4eac-a9c4-84fff754176e/scratchpad/roadmap_deck/icons/fa_shield_white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8263" y="4095415"/>
            <a:ext cx="294803" cy="29480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49440" y="38496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Inisiasi ISO 27001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6949440" y="42336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Memulai gap assessment dan penyusunan kebijakan keamanan informasi.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5129784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9" name="Image 6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4703" y="5265847"/>
            <a:ext cx="294803" cy="294803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325880" y="50200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Sistem Verifikasi</a:t>
            </a:r>
            <a:endParaRPr lang="en-US" sz="1450" dirty="0"/>
          </a:p>
        </p:txBody>
      </p:sp>
      <p:sp>
        <p:nvSpPr>
          <p:cNvPr id="31" name="Text 22"/>
          <p:cNvSpPr txBox="1"/>
          <p:nvPr/>
        </p:nvSpPr>
        <p:spPr>
          <a:xfrm>
            <a:off x="1325880" y="540410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Mengaudit dan memperbaiki celah keandalan pada alur verifikasi.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ROADMAP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EF8E9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UTAMA — BERURUTAN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Snackbox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877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dekat dengan penyelesaian — membuka kanal penghasil pendapatan lebih dulu.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644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Komunitas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47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terbesar yang dirilis minggu ini; selesaikan sebelum lingkupnya membesar.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2245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&amp; Pengiriman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507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Menghambat kelancaran pemenuhan pesanan di seluruh platform.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84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LMS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onboarding setelah alur commerce inti stabil.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PARALEL — BERJALAN TERUS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2478024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12280" y="2350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Pajak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6426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 regulasi — berjalan stabil terlepas dari fokus sprint.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92240" y="3685032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12280" y="35570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untuk scoping dan asesmen, bukan target sprint.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489204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4764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Verifikasi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5056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bertahap yang disisipkan pada minggu mana pun yang memiliki kapasitas.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ROADMAP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Sekilas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79800"/>
              </p:ext>
            </p:extLst>
          </p:nvPr>
        </p:nvGraphicFramePr>
        <p:xfrm>
          <a:off x="548640" y="1600200"/>
          <a:ext cx="11091670" cy="4663440"/>
        </p:xfrm>
        <a:graphic>
          <a:graphicData uri="http://schemas.openxmlformats.org/drawingml/2006/table">
            <a:tbl>
              <a:tblPr>
                <a:solidFill>
                  <a:srgbClr val="ED7C31"/>
                </a:solidFill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8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Inisiatif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5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1–6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5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7–13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5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14–20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5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21–27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5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28–30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5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Finalisasi Snackbox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Finalisasi Sistem Komunitas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UTAMA</a:t>
                      </a: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Pembayaran &amp; Pelacakan Pengiriman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UTAMA</a:t>
                      </a: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Peningkatan 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UTAMA</a:t>
                      </a: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Kepatuhan Regulasi Pajak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</a:t>
                      </a:r>
                      <a:endParaRPr lang="en-US" sz="1200" b="1" i="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Inisiasi ISO 27001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</a:t>
                      </a:r>
                      <a:endParaRPr lang="en-US" sz="1200" b="1" i="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Verifikasi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</a:t>
                      </a:r>
                      <a:endParaRPr lang="en-US" sz="1200" b="1" i="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2245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A · 1–6 Sep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85953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Finalisasi Snackbox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607040" y="54864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6809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28800"/>
            <a:ext cx="10881360" cy="3520440"/>
          </a:xfrm>
          <a:prstGeom prst="roundRect">
            <a:avLst>
              <a:gd name="adj" fmla="val 259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148840"/>
            <a:ext cx="9966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Menuntaskan kasus tepi pada checkout dan drawer keranjang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QA pada slider bagi hasil dan pencarian kategori merchant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akhir konsistensi design system di seluruh layar Snackbox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bug bash menyeluruh pada alur Snackbox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Snackbox v1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2450D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5687568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2" name="Image 1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80826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5586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SELESAI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58338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Snackbox v1 tayang dengan checkout, keranjang, dan pencarian yang telah sepenuhnya QA — tanpa bug penghambat yang tersisa.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B · 7–13 Sep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85953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Finalisasi Sistem Komunitas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607040" y="54864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6809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28800"/>
            <a:ext cx="10881360" cy="3520440"/>
          </a:xfrm>
          <a:prstGeom prst="roundRect">
            <a:avLst>
              <a:gd name="adj" fmla="val 259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148840"/>
            <a:ext cx="9966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kekurangan yang tersisa di seluruh 11 modul komunitas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menyeluruh di mobile — kartu peran, dashboard, dan forum diskusi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cache dan performa, termasuk kasus tepi invalidasi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Menyempurnakan sistem notifikasi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dan feature-freeze pada sistem komunitas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2450D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5687568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2" name="Image 1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80826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5586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SELESAI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58338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11 modul lolos QA mobile dan performa, serta feature-frozen untuk peluncuran.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C · 14–20 Sep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85953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Pembayaran &amp; Pelacakan Pengiriman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607040" y="54864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credit_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6809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28800"/>
            <a:ext cx="10881360" cy="3520440"/>
          </a:xfrm>
          <a:prstGeom prst="roundRect">
            <a:avLst>
              <a:gd name="adj" fmla="val 259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148840"/>
            <a:ext cx="9966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Menuntaskan integrasi payment gateway secara menyeluruh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sinkronisasi status pelacakan pengiriman/kurir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pipeline status pesanan → status pembayaran → status pengiriman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penanganan webhook dan rekonsiliasi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pengujian siklus pesanan secara menyeluruh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2450D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5687568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2" name="Image 1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80826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5586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SELESAI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58338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dapat dibuat, dibayar, dilacak, dan dikirim secara menyeluruh dengan sinkronisasi status otomatis.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 · 21–27 Sep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85953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Peningkatan LMS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607040" y="54864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grad_c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6809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28800"/>
            <a:ext cx="10881360" cy="3520440"/>
          </a:xfrm>
          <a:prstGeom prst="roundRect">
            <a:avLst>
              <a:gd name="adj" fmla="val 259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148840"/>
            <a:ext cx="9966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UX navigasi kursus dan modul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pelacakan progres dan sertifikat penyelesaian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alat manajemen konten untuk admin</a:t>
            </a:r>
            <a:endParaRPr lang="en-US" sz="1550" dirty="0"/>
          </a:p>
          <a:p>
            <a:pPr marL="203200" indent="-203200">
              <a:lnSpc>
                <a:spcPct val="110000"/>
              </a:lnSpc>
              <a:spcAft>
                <a:spcPts val="1300"/>
              </a:spcAft>
              <a:buSzPct val="100000"/>
              <a:buChar char="●"/>
            </a:pPr>
            <a:r>
              <a:rPr lang="en-US" sz="155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optimasi performa dan caching pada halaman LMS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2450D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5687568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2" name="Image 1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80826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5586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SELESAI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58338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dapat melacak progres dan memperoleh sertifikat; admin dapat mengelola konten tanpa bantuan tim engineering.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22450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E · 28–30 SEP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85953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Penutupan &amp; Dorongan Jalur Paralel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607040" y="54864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6809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28800"/>
            <a:ext cx="10881360" cy="4206240"/>
          </a:xfrm>
          <a:prstGeom prst="roundRect">
            <a:avLst>
              <a:gd name="adj" fmla="val 2174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14884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cadangan untuk pekerjaan yang meluber dari Minggu A–D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Mendorong kemajuan jalur kepatuhan pajak, ISO 27001, dan sistem verifikasi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retro September untuk keempat inisiatif utama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draf rencana Oktober 2026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EF8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· 1–30 SEP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Kepatuhan Regulasi Pajak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paralel — intensitas mingguan rendah, progres stabil sepanjang bulan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invo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2237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03120"/>
            <a:ext cx="10881360" cy="4206240"/>
          </a:xfrm>
          <a:prstGeom prst="roundRect">
            <a:avLst>
              <a:gd name="adj" fmla="val 2174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42316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cakupan kebutuhan field invoice PPN / e-Faktur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field terkait pajak pada model data pesanan dan invoice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draf ekspor pelaporan pajak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Menyelesaikan tinjauan legal/kepatuhan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EF8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· 1–30 SEP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Inisiasi ISO 27001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untuk scoping, bukan sprint pengembangan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2237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03120"/>
            <a:ext cx="10881360" cy="4206240"/>
          </a:xfrm>
          <a:prstGeom prst="roundRect">
            <a:avLst>
              <a:gd name="adj" fmla="val 2174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42316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Menyelesaikan inventarisasi aset dan data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gap assessment awal terhadap kontrol ISO 27001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draf kerangka kebijakan keamanan informasi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penanggung jawab dan linimasa untuk proses sertifikasi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EF8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· 1–30 SEP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Peningkatan Sistem Verifikasi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bertahap yang disisipkan pada pekerjaan minggu utama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7" name="Image 0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2237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103120"/>
            <a:ext cx="10881360" cy="4206240"/>
          </a:xfrm>
          <a:prstGeom prst="roundRect">
            <a:avLst>
              <a:gd name="adj" fmla="val 2174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42316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Mengaudit alur verifikasi saat ini untuk menemukan titik kegagalan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Memprioritaskan perbaikan UX dan keandalan yang paling penting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700"/>
              </a:spcAft>
              <a:buSzPct val="100000"/>
              <a:buChar char="●"/>
            </a:pPr>
            <a:r>
              <a:rPr lang="en-US" sz="1600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Merilis perbaikan bertahap berdampingan dengan pekerjaan minggu lain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ROADMAP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 &amp; Ketergantungan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/private/tmp/claude-501/-Users-dzakidarthmatheus-Github-teras-umkm/8ffcaaf8-814c-4eac-a9c4-84fff754176e/scratchpad/roadmap_deck/icons/fa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223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20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4028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2103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Pembayaran &amp; Pengiriman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4688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akses dan kredensial payment gateway serta API kurir eksternal yang tersedia tepat waktu untuk Minggu C.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74904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8720" y="3611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&amp; Kepatuhan Pajak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9776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masukan legal/operasional yang berada di luar kendali langsung tim engineering.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6FCF4"/>
          </a:solidFill>
          <a:ln/>
          <a:effectLst>
            <a:outerShdw blurRad="101600" dist="38100" dir="5400000" algn="bl" rotWithShape="0">
              <a:srgbClr val="22450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525780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88720" y="51206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Jalur Paralel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54864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 pajak, ISO 27001, dan verifikasi berpotensi mundur jika target minggu utama molor.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ROADMAP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45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Kriteria Keberhasilan September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22450D"/>
          </a:solidFill>
          <a:ln/>
        </p:spPr>
      </p:sp>
      <p:pic>
        <p:nvPicPr>
          <p:cNvPr id="5" name="Image 0" descr="/private/tmp/claude-501/-Users-dzakidarthmatheus-Github-teras-umkm/8ffcaaf8-814c-4eac-a9c4-84fff754176e/scratchpad/roadmap_deck/icons/fa_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7223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1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1783812"/>
            <a:ext cx="199705" cy="199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6733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Snackbox: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dirilis; checkout, keranjang, dan pencarian telah sepenuhnya QA.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0" name="Image 2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2405604"/>
            <a:ext cx="199705" cy="199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29514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Komunitas: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11 modul feature-frozen dan telah lolos QA mobile.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3" name="Image 3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027396"/>
            <a:ext cx="199705" cy="199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29169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&amp; Pengiriman: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pesanan menyeluruh berjalan dengan sinkronisasi status otomatis.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4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649188"/>
            <a:ext cx="199705" cy="199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5387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Pelacakan progres, sertifikat, dan alat admin telah dirilis.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548640" y="4178808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9" name="Image 5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4270980"/>
            <a:ext cx="199705" cy="199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97280" y="41605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Pajak: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data invoice diperbarui; draf ekspor pelaporan tersusun.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2" name="Image 6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4892772"/>
            <a:ext cx="199705" cy="199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97280" y="47823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 selesai; draf kerangka kebijakan tersusun; penanggung jawab ditentukan.</a:t>
            </a:r>
            <a:endParaRPr lang="en-US" sz="1450" dirty="0"/>
          </a:p>
        </p:txBody>
      </p:sp>
      <p:sp>
        <p:nvSpPr>
          <p:cNvPr id="24" name="Shape 15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5" name="Image 7" descr="/private/tmp/claude-501/-Users-dzakidarthmatheus-Github-teras-umkm/8ffcaaf8-814c-4eac-a9c4-84fff754176e/scratchpad/roadmap_deck/icons/fa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5514564"/>
            <a:ext cx="199705" cy="1997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97280" y="54041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45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Verifikasi:  </a:t>
            </a:r>
            <a:r>
              <a:rPr lang="en-US" sz="1450" dirty="0">
                <a:solidFill>
                  <a:srgbClr val="4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keandalan utama dirilis secara bertahap.</a:t>
            </a:r>
            <a:endParaRPr lang="en-US" sz="1450" dirty="0"/>
          </a:p>
        </p:txBody>
      </p:sp>
      <p:sp>
        <p:nvSpPr>
          <p:cNvPr id="27" name="Text 17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23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Wujudkan September.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Snackbox → Komunitas → Pembayaran &amp; Pengiriman → LMS — dengan Pajak, ISO 27001, dan Verifikasi berjalan paralel.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SALOKA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1199</Words>
  <Application>Microsoft Macintosh PowerPoint</Application>
  <PresentationFormat>Widescreen</PresentationFormat>
  <Paragraphs>244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Dzaki Aziz Nugroho</cp:lastModifiedBy>
  <cp:revision>3</cp:revision>
  <dcterms:created xsi:type="dcterms:W3CDTF">2026-09-01T00:22:18Z</dcterms:created>
  <dcterms:modified xsi:type="dcterms:W3CDTF">2026-09-01T00:32:14Z</dcterms:modified>
</cp:coreProperties>
</file>