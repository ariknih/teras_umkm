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9202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Weekly Progress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FD8E8"/>
                </a:solidFill>
              </a:defRPr>
            </a:pPr>
            <a:r>
              <a:t>Minggu A–E (1–30 Sep 2026) vs. Roadmap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9AA5B8"/>
                </a:solidFill>
              </a:defRPr>
            </a:pPr>
            <a:r>
              <a:t>Disusun 9 Sep, diperbarui 30 September 2026 — berdasarkan git history &amp; verifikasi kode teras_umkm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8B4A"/>
                </a:solidFill>
              </a:defRPr>
            </a:pPr>
            <a:r>
              <a:t>🎉 Kabar baik: DOKU live sejak 16 Sep — satu-satunya gateway pembayaran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F6FED"/>
                </a:solidFill>
              </a:defRPr>
            </a:pPr>
            <a:r>
              <a:t>BAGIAN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F2E"/>
                </a:solidFill>
              </a:defRPr>
            </a:pPr>
            <a:r>
              <a:t>Rekap Minggu A–E (1–30 Sep 2026) vs. Target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1F2E"/>
                </a:solidFill>
              </a:defRPr>
            </a:pPr>
            <a:r>
              <a:t>Finalisasi Snackbox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96112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55F6E"/>
                </a:solidFill>
              </a:defRPr>
            </a:pPr>
            <a:r>
              <a:t>Target Minggu A (selesai 6 Sep) — Snackbox v1 tayang, checkout/keranjang/pencarian sepenuhnya QA.</a:t>
            </a:r>
          </a:p>
        </p:txBody>
      </p:sp>
      <p:sp>
        <p:nvSpPr>
          <p:cNvPr id="4" name="Rectangle 3"/>
          <p:cNvSpPr/>
          <p:nvPr/>
        </p:nvSpPr>
        <p:spPr>
          <a:xfrm>
            <a:off x="9235440" y="411480"/>
            <a:ext cx="2377440" cy="365760"/>
          </a:xfrm>
          <a:prstGeom prst="rect">
            <a:avLst/>
          </a:prstGeom>
          <a:solidFill>
            <a:srgbClr val="C98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MAJU / SEBAGIAN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8B4A"/>
                </a:solidFill>
              </a:defRPr>
            </a:pPr>
            <a:r>
              <a:t>Sudah tercapai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64792"/>
            <a:ext cx="103327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✓  Pencarian kelurahan nasional + deteksi lokasi GPS/IP otomatis</a:t>
            </a:r>
          </a:p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✓  Perombakan halaman, cart, kartu produk, header (commit 49c0d07, 9 Sep)</a:t>
            </a:r>
          </a:p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✓  Checkout Snackbox digabung ke pipeline pesanan Marketplace</a:t>
            </a:r>
          </a:p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✓  Admin Mitra &amp; Produk Snackbox memakai data asli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3639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0392B"/>
                </a:solidFill>
              </a:defRPr>
            </a:pPr>
            <a:r>
              <a:t>Belum tercapai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83864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✗  Order History, Coverage, dan Payout Mitra admin masih mock</a:t>
            </a:r>
          </a:p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✗  QA slider bagi hasil 15–20% &amp; pencarian kategori merchant; bug bash</a:t>
            </a:r>
          </a:p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✗  Pernyataan rilis resmi "Snackbox v1"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i="1">
                <a:solidFill>
                  <a:srgbClr val="555F6E"/>
                </a:solidFill>
              </a:defRPr>
            </a:pPr>
            <a:r>
              <a:t>Sisi pelanggan berjalan, tapi payout mitra hardcoded (tidak memindahkan uang) dan coverage hanya di localStorage — v1 belum bisa dinyatakan selesai.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1F2E"/>
                </a:solidFill>
              </a:defRPr>
            </a:pPr>
            <a:r>
              <a:t>Finalisasi Sistem Komunitas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96112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55F6E"/>
                </a:solidFill>
              </a:defRPr>
            </a:pPr>
            <a:r>
              <a:t>Target Minggu B (7–13 Sep) — 11 modul QA mobile &amp; performa, lalu feature-freeze.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235440" y="411480"/>
            <a:ext cx="2377440" cy="365760"/>
          </a:xfrm>
          <a:prstGeom prst="rect">
            <a:avLst/>
          </a:prstGeom>
          <a:solidFill>
            <a:srgbClr val="C98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MAJU / SEBAGIAN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8B4A"/>
                </a:solidFill>
              </a:defRPr>
            </a:pPr>
            <a:r>
              <a:t>Sudah tercapai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64792"/>
            <a:ext cx="103327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✓  7 dari 17 modul nyata (Diskusi, Aktivitas, Event, Galeri, Produk, Marketplace, Pengumuman)</a:t>
            </a:r>
          </a:p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✓  Kas Komunitas/Koperasi, ledger platform, penarikan Kas via Finance Admin (16 Sep)</a:t>
            </a:r>
          </a:p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✓  Iuran join via DOKU; payout referral multi-tier diperbaiki; audit siklus referral</a:t>
            </a:r>
          </a:p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✓  Feature Control kill switch; badge &amp; template modul satu sumber; pengalih komunitas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3639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0392B"/>
                </a:solidFill>
              </a:defRPr>
            </a:pPr>
            <a:r>
              <a:t>Belum tercapai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83864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✗  10 modul masih "Segera Hadir" (Business Matching, Pelatihan, Mentor, Kelas, Kompetisi, dll.)</a:t>
            </a:r>
          </a:p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✗  QA mobile menyeluruh &amp; sign-off / feature-freeze resmi</a:t>
            </a:r>
          </a:p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✗  Phase 6: pencairan pinjaman, SHU → wallet otomatis, penagihan 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i="1">
                <a:solidFill>
                  <a:srgbClr val="555F6E"/>
                </a:solidFill>
              </a:defRPr>
            </a:pPr>
            <a:r>
              <a:t>10 modul placeholder adalah inti template Business, Education, dan Culinary — perlu dibangun atau disembunyikan lewat Feature Control.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1F2E"/>
                </a:solidFill>
              </a:defRPr>
            </a:pPr>
            <a:r>
              <a:t>Integrasi Pembayaran &amp; Pengiriman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96112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55F6E"/>
                </a:solidFill>
              </a:defRPr>
            </a:pPr>
            <a:r>
              <a:t>Target Minggu C (14–20 Sep) — payment gateway pesanan, pelacakan kurir, sinkronisasi status menyeluruh.</a:t>
            </a:r>
          </a:p>
        </p:txBody>
      </p:sp>
      <p:sp>
        <p:nvSpPr>
          <p:cNvPr id="4" name="Rectangle 3"/>
          <p:cNvSpPr/>
          <p:nvPr/>
        </p:nvSpPr>
        <p:spPr>
          <a:xfrm>
            <a:off x="9235440" y="411480"/>
            <a:ext cx="2377440" cy="365760"/>
          </a:xfrm>
          <a:prstGeom prst="rect">
            <a:avLst/>
          </a:prstGeom>
          <a:solidFill>
            <a:srgbClr val="C98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MAJU / SEBAGIAN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8B4A"/>
                </a:solidFill>
              </a:defRPr>
            </a:pPr>
            <a:r>
              <a:t>Sudah tercapai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64792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✓  DOKU live sejak 16 Sep — satu-satunya gateway; kode Midtrans &amp; Komerce sudah dihapus</a:t>
            </a:r>
          </a:p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✓  Webhook DOKU diverifikasi RSA-SHA256; cek status langsung; idempotensi orderId</a:t>
            </a:r>
          </a:p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✓  Route checkout/verify/notification (/api/doku &amp; /api/payment) + batas min/maks deposit</a:t>
            </a:r>
          </a:p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✓  Biteship: pencarian area &amp; tarif ongkir; payout pesanan saat selesai</a:t>
            </a:r>
          </a:p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✓  Suite QA otomatis lintas peran (qa_full_suite.ts, 85 assertion)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1071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0392B"/>
                </a:solidFill>
              </a:defRPr>
            </a:pPr>
            <a:r>
              <a:t>Belum tercapai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58184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✗  Sinkronisasi status kurir: trackBiteshipWaybill belum dipanggil; tracking manual oleh merchant</a:t>
            </a:r>
          </a:p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✗  Booking kurir via API &amp; rekonsiliasi settlement DOKU terjadwal</a:t>
            </a:r>
          </a:p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✗  Uji siklus pesanan end-to-end; bug: nomor WA hardcoded di notifikasi pesanan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i="1">
                <a:solidFill>
                  <a:srgbClr val="555F6E"/>
                </a:solidFill>
              </a:defRPr>
            </a:pPr>
            <a:r>
              <a:t>Pembayaran matang (live), tetapi pengiriman belum otomatis — Definisi Selesai Minggu C (status sinkron otomatis) belum tercapai.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1F2E"/>
                </a:solidFill>
              </a:defRPr>
            </a:pPr>
            <a:r>
              <a:t>Peningkatan LMS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96112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55F6E"/>
                </a:solidFill>
              </a:defRPr>
            </a:pPr>
            <a:r>
              <a:t>Target Minggu D (21–27 Sep) — navigasi, pelacakan progres, sertifikat, dan alat admin.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9235440" y="411480"/>
            <a:ext cx="2377440" cy="365760"/>
          </a:xfrm>
          <a:prstGeom prst="rect">
            <a:avLst/>
          </a:prstGeom>
          <a:solidFill>
            <a:srgbClr val="228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HAMPIR SELESAI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8B4A"/>
                </a:solidFill>
              </a:defRPr>
            </a:pPr>
            <a:r>
              <a:t>Sudah tercapai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64792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✓  Progres server-side, penguncian modul, sertifikat otomatis, CMS kursus, cache lms:*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1343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0392B"/>
                </a:solidFill>
              </a:defRPr>
            </a:pPr>
            <a:r>
              <a:t>Belum tercapai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60904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✗  Review UX navigasi kursus &amp; modul (subjektif — perlu uji manual)</a:t>
            </a:r>
          </a:p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✗  Ukur performa halaman LMS di produksi (cache sudah ada)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i="1">
                <a:solidFill>
                  <a:srgbClr val="555F6E"/>
                </a:solidFill>
              </a:defRPr>
            </a:pPr>
            <a:r>
              <a:t>Target Minggu D (progres, sertifikat, alat admin) tercapai; sisa hanya review UX.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1F2E"/>
                </a:solidFill>
              </a:defRPr>
            </a:pPr>
            <a:r>
              <a:t>Jalur Paralel (berjalan sepanjang bulan)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698480" cy="160020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 wrap="square"/>
          <a:lstStyle/>
          <a:p>
            <a:pPr algn="ctr">
              <a:defRPr sz="1700" b="1">
                <a:solidFill>
                  <a:srgbClr val="1A1F2E"/>
                </a:solidFill>
              </a:defRPr>
            </a:pPr>
            <a:r>
              <a:t>Kepatuhan Pajak Indonesia</a:t>
            </a:r>
          </a:p>
          <a:p>
            <a:pPr>
              <a:spcBef>
                <a:spcPts val="400"/>
              </a:spcBef>
              <a:defRPr sz="1200">
                <a:solidFill>
                  <a:srgbClr val="555F6E"/>
                </a:solidFill>
              </a:defRPr>
            </a:pPr>
            <a:r>
              <a:t>Belum ada progres — skema hanya punya Community.nomorNpwp; tidak ada field PPN/e-Faktur pada Order/invoice maupun ekspor pelaporan.</a:t>
            </a:r>
          </a:p>
        </p:txBody>
      </p:sp>
      <p:sp>
        <p:nvSpPr>
          <p:cNvPr id="4" name="Rectangle 3"/>
          <p:cNvSpPr/>
          <p:nvPr/>
        </p:nvSpPr>
        <p:spPr>
          <a:xfrm>
            <a:off x="9052560" y="1188720"/>
            <a:ext cx="237744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BELUM TERCAPAI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10698480" cy="160020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 wrap="square"/>
          <a:lstStyle/>
          <a:p>
            <a:pPr algn="ctr">
              <a:defRPr sz="1700" b="1">
                <a:solidFill>
                  <a:srgbClr val="1A1F2E"/>
                </a:solidFill>
              </a:defRPr>
            </a:pPr>
            <a:r>
              <a:t>Inisiasi ISO 27001</a:t>
            </a:r>
          </a:p>
          <a:p>
            <a:pPr>
              <a:spcBef>
                <a:spcPts val="400"/>
              </a:spcBef>
              <a:defRPr sz="1200">
                <a:solidFill>
                  <a:srgbClr val="555F6E"/>
                </a:solidFill>
              </a:defRPr>
            </a:pPr>
            <a:r>
              <a:t>Kontrol teknis Gap Analysis 9 Sep sebagian besar tertutup. Terbuka: npm audit 28 high, CSP report-only, dokumen ISMS (risk register, SoA, kebijakan, PIC).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0" y="2971800"/>
            <a:ext cx="2377440" cy="365760"/>
          </a:xfrm>
          <a:prstGeom prst="rect">
            <a:avLst/>
          </a:prstGeom>
          <a:solidFill>
            <a:srgbClr val="C98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SEBAGIAN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709160"/>
            <a:ext cx="10698480" cy="160020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 wrap="square"/>
          <a:lstStyle/>
          <a:p>
            <a:pPr algn="ctr">
              <a:defRPr sz="1700" b="1">
                <a:solidFill>
                  <a:srgbClr val="1A1F2E"/>
                </a:solidFill>
              </a:defRPr>
            </a:pPr>
            <a:r>
              <a:t>Peningkatan Sistem Verifikasi</a:t>
            </a:r>
          </a:p>
          <a:p>
            <a:pPr>
              <a:spcBef>
                <a:spcPts val="400"/>
              </a:spcBef>
              <a:defRPr sz="1200">
                <a:solidFill>
                  <a:srgbClr val="555F6E"/>
                </a:solidFill>
              </a:defRPr>
            </a:pPr>
            <a:r>
              <a:t>Alur Didit lengkap &amp; diamankan (simulasi non-produksi, log tanpa PII). Sisa: stub submitKycAction lama &amp; audit titik kegagalan.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9052560" y="4754880"/>
            <a:ext cx="2377440" cy="365760"/>
          </a:xfrm>
          <a:prstGeom prst="rect">
            <a:avLst/>
          </a:prstGeom>
          <a:solidFill>
            <a:srgbClr val="228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TERCAPAI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1F2E"/>
                </a:solidFill>
              </a:defRPr>
            </a:pPr>
            <a:r>
              <a:t>Ringkasan Status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051560"/>
          <a:ext cx="106984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743200"/>
                <a:gridCol w="5394960"/>
              </a:tblGrid>
              <a:tr h="60579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Inisiatif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Target Minggu Ini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Status 30 Sep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Snackbox v1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Minggu A (selesai 6 Sep)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Sisi pelanggan jalan; Order/Coverage/Payout admin masih mock; belum rilis v1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Sistem Komunitas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Minggu B (s.d. 13 Sep)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7 dari 17 modul nyata; 10 "Segera Hadir"; QA mobile &amp; freeze belum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Pembayaran &amp; Pengiriman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Minggu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DOKU live; pelacakan kurir &amp; rekonsiliasi belum tersambung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LMS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Minggu D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Progres, sertifikat, CMS, cache rilis; tinggal review UX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Pajak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Berjalan sepanjang bulan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Belum ada progres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ISO 27001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Berjalan sepanjang bulan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Kontrol teknis sebagian besar tertutup; dokumen ISMS belum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Verifikasi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Berjalan sepanjang bulan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Alur Didit stabil &amp; diamankan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Kabar Baik &amp; Risiko Utama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8B4A"/>
                </a:solidFill>
              </a:defRPr>
            </a:pPr>
            <a:r>
              <a:t>🎉 DOKU live sejak 16 Sep sebagai satu-satunya gateway — pembayaran komunitas, wallet, dan koin sudah berjalan.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CFD8E8"/>
                </a:solidFill>
              </a:defRPr>
            </a:pPr>
            <a:r>
              <a:t>Belum ada dari 7 target September yang memenuhi Definisi Selesai penuh — Snackbox v1 (prioritas #1) belum dirilis.</a:t>
            </a:r>
          </a:p>
          <a:p>
            <a:pPr>
              <a:defRPr sz="1700">
                <a:solidFill>
                  <a:srgbClr val="CFD8E8"/>
                </a:solidFill>
              </a:defRPr>
            </a:pPr>
            <a:r>
              <a:t>Risiko Oktober: 10 modul komunitas placeholder, pelacakan kurir manual, Pajak belum dimulai, dokumen ISMS belum ada, plus bug nomor WA hardcoded di notifikasi pesanan.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